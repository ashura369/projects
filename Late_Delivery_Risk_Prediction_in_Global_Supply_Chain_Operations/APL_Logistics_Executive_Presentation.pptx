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3255" y="621792"/>
            <a:ext cx="8712657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APL Logistics: Supply Chain Intelligence &amp; Risk Prediction</a:t>
            </a:r>
          </a:p>
          <a:p>
            <a:pPr algn="ctr">
              <a:spcBef>
                <a:spcPts val="1400"/>
              </a:spcBef>
              <a:defRPr sz="2000">
                <a:solidFill>
                  <a:srgbClr val="B4D7FF"/>
                </a:solidFill>
                <a:latin typeface="Arial"/>
              </a:defRPr>
            </a:pPr>
            <a:r>
              <a:rPr dirty="0"/>
              <a:t>Visual Analytics &amp; </a:t>
            </a:r>
            <a:r>
              <a:rPr dirty="0" err="1"/>
              <a:t>Optuna</a:t>
            </a:r>
            <a:r>
              <a:rPr dirty="0"/>
              <a:t> Machine Learning Executive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5547282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6B4D2"/>
                </a:solidFill>
                <a:latin typeface="Arial"/>
              </a:defRPr>
            </a:pPr>
            <a:r>
              <a:rPr dirty="0"/>
              <a:t>Prepared for APL Logistics Operations &amp; Analytics Leadership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531ED-D942-ABF4-8DA2-F2E719477780}"/>
              </a:ext>
            </a:extLst>
          </p:cNvPr>
          <p:cNvSpPr txBox="1"/>
          <p:nvPr/>
        </p:nvSpPr>
        <p:spPr>
          <a:xfrm>
            <a:off x="91440" y="6156804"/>
            <a:ext cx="5422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6B4D2"/>
                </a:solidFill>
                <a:latin typeface="Arial"/>
              </a:rPr>
              <a:t>Biswajeet Pradhan</a:t>
            </a:r>
          </a:p>
          <a:p>
            <a:r>
              <a:rPr lang="en-US" sz="1400" dirty="0">
                <a:solidFill>
                  <a:srgbClr val="96B4D2"/>
                </a:solidFill>
                <a:latin typeface="Arial"/>
              </a:rPr>
              <a:t>biswajeetpradhan36933@gmail.com</a:t>
            </a:r>
            <a:endParaRPr lang="en-IN" sz="1400" dirty="0">
              <a:solidFill>
                <a:srgbClr val="96B4D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1FF"/>
                </a:solidFill>
                <a:latin typeface="Arial"/>
              </a:defRPr>
            </a:pPr>
            <a:r>
              <a:t>Proactive Late Delivery Risk Mitigation in Global Freight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5029200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rPr dirty="0"/>
              <a:t>Operational Challenges at APL Logistics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• Unpredictable shipment delays cause Service Level Agreement (SLA) breaches.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• Reactive delay handling (after logistics bottlenecks occur) incurs severe expediting and premium air-freight costs.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• Operations teams lack a quantitative early-warning score before dispatch.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• High customer churn risk resulting from uncommunicated transit delays.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5395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Proposed Data Science &amp; AI Solution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Predictive Machine Learning Engine analyzing 180,000+ global transaction records.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Automated Hyperparameter Optimization via Optuna for max classification accuracy.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Target Encoding for high-cardinality geographic &amp; product variables.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Two-Tier Deployment: Streamlit Predictor App + Executive Power BI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Power BI Visual Dashboard: Page 1 (Sales &amp; Discounts)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1FF"/>
                </a:solidFill>
                <a:latin typeface="Arial"/>
              </a:defRPr>
            </a:pPr>
            <a:r>
              <a:t>Embedded Visual Presentations from Power BI Data Model</a:t>
            </a:r>
          </a:p>
        </p:txBody>
      </p:sp>
      <p:pic>
        <p:nvPicPr>
          <p:cNvPr id="5" name="Picture 4" descr="p1_sales_by_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3566160" cy="2292531"/>
          </a:xfrm>
          <a:prstGeom prst="rect">
            <a:avLst/>
          </a:prstGeom>
        </p:spPr>
      </p:pic>
      <p:pic>
        <p:nvPicPr>
          <p:cNvPr id="6" name="Picture 5" descr="p1_disc_by_c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80160"/>
            <a:ext cx="3566160" cy="2292531"/>
          </a:xfrm>
          <a:prstGeom prst="rect">
            <a:avLst/>
          </a:prstGeom>
        </p:spPr>
      </p:pic>
      <p:pic>
        <p:nvPicPr>
          <p:cNvPr id="7" name="Picture 6" descr="p1_disc_by_d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280160"/>
            <a:ext cx="3566160" cy="22925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39" y="4992624"/>
            <a:ext cx="11064240" cy="1271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111496"/>
            <a:ext cx="10789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rPr dirty="0"/>
              <a:t>Key Insights from Power BI Page 1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• Department Volume: Fan Shop, Apparel, and Golf lead order volume, representing major logistics throughput.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rPr dirty="0"/>
              <a:t>• Discount Impact: Cleats, Men's Footwear, and Apparel consume over 60% of total discount allowances, signaling tight operating margins.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Power BI Visual Dashboard: Page 2 (Delivery Performance)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1FF"/>
                </a:solidFill>
                <a:latin typeface="Arial"/>
              </a:defRPr>
            </a:pPr>
            <a:r>
              <a:t>Embedded Fulfillment Status &amp; Price Segment Visualizations</a:t>
            </a:r>
          </a:p>
        </p:txBody>
      </p:sp>
      <p:pic>
        <p:nvPicPr>
          <p:cNvPr id="5" name="Picture 4" descr="p2_deliver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3840480" cy="2880360"/>
          </a:xfrm>
          <a:prstGeom prst="rect">
            <a:avLst/>
          </a:prstGeom>
        </p:spPr>
      </p:pic>
      <p:pic>
        <p:nvPicPr>
          <p:cNvPr id="6" name="Picture 5" descr="p2_price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384048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280160"/>
            <a:ext cx="3017520" cy="50292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417319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Operational Insights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Delivery Status Breakdown: Highlights high proportion of Late Deliveries requiring proactive early-warning routing.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Revenue Exposure: High price segment shipments represent elevated financial risk under SLA delay penalties.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Machine Learning Framework &amp; Optuna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1FF"/>
                </a:solidFill>
                <a:latin typeface="Arial"/>
              </a:defRPr>
            </a:pPr>
            <a:r>
              <a:t>Multi-Model Evaluation &amp; Automated Hyperparameter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5029200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Model Selection &amp; Pipeline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Evaluated Classifiers: Logistic Regression, Random Forest, XGBoost, and Gradient Boosting.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Cross-Validation: 5-Fold Stratified CV preserving target class distributions.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Target Encoding: Transformed 15 high-cardinality categorical features (Cities, States, Markets, Shipping Modes).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Optuna Hyperparameter Tuning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Optimization Engine: Tree-structured Parzen Estimator (TPE) algorithm.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Best Model Selected: Gradient Boosting Classifier (138 Estimators, Max Depth 10, Learning Rate 0.0153).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Performance: Achieved state-of-the-art ROC-AUC classification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Critical Finding: Target Leakage &amp; Real Pre-Shipment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1FF"/>
                </a:solidFill>
                <a:latin typeface="Arial"/>
              </a:defRPr>
            </a:pPr>
            <a:r>
              <a:t>Distinguishing Post-Facto Status Indicators from Early Warning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5029200"/>
          </a:xfrm>
          <a:prstGeom prst="roundRect">
            <a:avLst>
              <a:gd name="adj" fmla="val 5394"/>
            </a:avLst>
          </a:prstGeom>
          <a:solidFill>
            <a:srgbClr val="FFF0F0"/>
          </a:solidFill>
          <a:ln w="12700">
            <a:solidFill>
              <a:srgbClr val="D90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The Data Leakage Finding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Feature Importance Audit: Delivery Status accounts for 86.40% of baseline model predictive weight.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Operational Conflict: Delivery Status is populated dynamically during transit (post-facto indicator).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Key Correction: Excluding Delivery Status ensures the model operates strictly on pre-shipment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True Pre-Shipment Risk Drivers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Scheduled Shipment Days (5.89%): Tight delivery windows directly increase delay probability.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Shipping Mode (5.77%): Standard vs Express shipping mode constraints.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Destination City &amp; Geography (1.09%): Destination congestion and regional transit complexities.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Payment &amp; Financial Metrics: Payment method, order price, and customer demographics.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Operational 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1FF"/>
                </a:solidFill>
                <a:latin typeface="Arial"/>
              </a:defRPr>
            </a:pPr>
            <a:r>
              <a:t>Bridging Data Science Models to Daily Supply Chain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5029200"/>
          </a:xfrm>
          <a:prstGeom prst="roundRect">
            <a:avLst>
              <a:gd name="adj" fmla="val 5576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Tier 1: Streamlit Real-Time Predictor App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Interactive Web Interface: Tabbed UI (Shipment, Financials, Customer Demographics, Destination).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Real-Time Risk Scoring: Planners input order parameters and receive instant late probability %.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Operational Alerts: Color-coded High Risk vs Low Risk indicators for immediate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5394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1731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Tier 2: Power BI Executive Dashboard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Strategic Analytics: 3-page interactive visual report connected to supply chain data model.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Regional Trend Tracking: Monitoring revenue exposure and shipping delays across global markets.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Executive Reporting: Dynamic filtering by department, category, and fulfillment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Summary &amp;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1FF"/>
                </a:solidFill>
                <a:latin typeface="Arial"/>
              </a:defRPr>
            </a:pPr>
            <a:r>
              <a:t>Action Plan for APL Logistics Operational Excellence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4303"/>
            </a:avLst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2340"/>
                </a:solidFill>
                <a:latin typeface="Arial"/>
              </a:defRPr>
            </a:pPr>
            <a:r>
              <a:t>Key Takeaways &amp; Action Items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Proactive Early Warning: Deploy the leak-free Gradient Boosting model within daily dispatch workflows.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Surge Capacity Planning: Prioritize express carrier allocations for High Risk predictions in long-haul destination cities.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Integration Roadmap: Connect Streamlit prediction endpoints directly to enterprise ERP / WMS systems.</a:t>
            </a:r>
          </a:p>
          <a:p>
            <a:pPr>
              <a:spcAft>
                <a:spcPts val="400"/>
              </a:spcAft>
              <a:defRPr sz="1200">
                <a:solidFill>
                  <a:srgbClr val="1E1E1E"/>
                </a:solidFill>
                <a:latin typeface="Arial"/>
              </a:defRPr>
            </a:pPr>
            <a:r>
              <a:t>• Future Enhancements: Integrate real-time IoT GPS tracking, weather forecasts, and port congestion feeds.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722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Biswajeet Pradhan</cp:lastModifiedBy>
  <cp:revision>4</cp:revision>
  <dcterms:created xsi:type="dcterms:W3CDTF">2013-01-27T09:14:16Z</dcterms:created>
  <dcterms:modified xsi:type="dcterms:W3CDTF">2026-07-26T04:59:02Z</dcterms:modified>
  <cp:category/>
</cp:coreProperties>
</file>